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fescofesco/Skill4Peopl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88952" cy="384048"/>
          </a:xfrm>
          <a:prstGeom prst="rect">
            <a:avLst/>
          </a:prstGeom>
          <a:solidFill>
            <a:srgbClr val="051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CCD6E0"/>
                </a:solidFill>
              </a:rPr>
              <a:t>Hack-Nation 5th Global AI Hackathon  ·  HUB-LINZ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858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200" b="1" i="0">
                <a:solidFill>
                  <a:srgbClr val="FFFFFF"/>
                </a:solidFill>
              </a:rPr>
              <a:t>Skills4People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783080"/>
            <a:ext cx="6336792" cy="502920"/>
          </a:xfrm>
          <a:prstGeom prst="rect">
            <a:avLst/>
          </a:prstGeom>
          <a:solidFill>
            <a:srgbClr val="00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828800"/>
            <a:ext cx="633679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00C2FF"/>
                </a:solidFill>
              </a:rPr>
              <a:t>The AI Scientist  —  hypothesis to runnable experiment in minutes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450592"/>
            <a:ext cx="48737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63347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2FF"/>
                </a:solidFill>
              </a:rPr>
              <a:t>GF.sh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5643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CD6E0"/>
                </a:solidFill>
              </a:rPr>
              <a:t>Samuel Hajek  ·  Georg Niess  ·  Felix Scope  ·  Johannes Wagner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4069080"/>
            <a:ext cx="5788152" cy="45720"/>
          </a:xfrm>
          <a:prstGeom prst="rect">
            <a:avLst/>
          </a:prstGeom>
          <a:solidFill>
            <a:srgbClr val="22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2062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699BB"/>
                </a:solidFill>
              </a:rPr>
              <a:t>Powered by  OpenAI GPT-4o  ·  Tavily  ·  OpenAlex  ·  Semantic Scholar  ·  Next.js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526280"/>
            <a:ext cx="11247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u="sng">
                <a:solidFill>
                  <a:srgbClr val="00C2FF"/>
                </a:solidFill>
                <a:hlinkClick r:id="rId2"/>
              </a:rPr>
              <a:t>🔗  github.com/fescofesco/Skill4People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983480"/>
            <a:ext cx="11247120" cy="1371600"/>
          </a:xfrm>
          <a:prstGeom prst="rect">
            <a:avLst/>
          </a:prstGeom>
          <a:solidFill>
            <a:srgbClr val="08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206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FFFFF"/>
                </a:solidFill>
              </a:rPr>
              <a:t>Science moves at the speed of operations, not ideas.
We compress weeks of lab-planning into a plan a scientist
can pick up on Monday and start running by Friday.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</a:rPr>
              <a:t>THE AI SCIENTIST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00C2FF"/>
                </a:solidFill>
              </a:rPr>
              <a:t>From hypothesis to runnable experiment — in minutes, not weeks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1554480"/>
            <a:ext cx="3959352" cy="54864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737360"/>
            <a:ext cx="5394960" cy="4480560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539496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56231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6B6B"/>
                </a:solidFill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2316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>
                <a:solidFill>
                  <a:srgbClr val="CCD6E0"/>
                </a:solidFill>
              </a:rPr>
              <a:t>Turning a hypothesis into a lab-ready experiment
takes weeks of manual work</a:t>
            </a:r>
          </a:p>
          <a:p>
            <a:pPr algn="l">
              <a:lnSpc>
                <a:spcPts val="2000"/>
              </a:lnSpc>
            </a:pPr>
            <a:r>
              <a:rPr sz="14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400" b="0" i="0">
                <a:solidFill>
                  <a:srgbClr val="CCD6E0"/>
                </a:solidFill>
              </a:rPr>
              <a:t>• Designing protocols from scattered literature</a:t>
            </a:r>
          </a:p>
          <a:p>
            <a:pPr algn="l">
              <a:lnSpc>
                <a:spcPts val="2000"/>
              </a:lnSpc>
            </a:pPr>
            <a:r>
              <a:rPr sz="1400" b="0" i="0">
                <a:solidFill>
                  <a:srgbClr val="CCD6E0"/>
                </a:solidFill>
              </a:rPr>
              <a:t>• Sourcing reagents with correct catalog numbers</a:t>
            </a:r>
          </a:p>
          <a:p>
            <a:pPr algn="l">
              <a:lnSpc>
                <a:spcPts val="2000"/>
              </a:lnSpc>
            </a:pPr>
            <a:r>
              <a:rPr sz="1400" b="0" i="0">
                <a:solidFill>
                  <a:srgbClr val="CCD6E0"/>
                </a:solidFill>
              </a:rPr>
              <a:t>• Building realistic budgets + phased timelines</a:t>
            </a:r>
          </a:p>
          <a:p>
            <a:pPr algn="l">
              <a:lnSpc>
                <a:spcPts val="2000"/>
              </a:lnSpc>
            </a:pPr>
            <a:r>
              <a:rPr sz="1400" b="0" i="0">
                <a:solidFill>
                  <a:srgbClr val="CCD6E0"/>
                </a:solidFill>
              </a:rPr>
              <a:t>• Assessing safety, ethics &amp; regulatory requirements</a:t>
            </a:r>
          </a:p>
          <a:p>
            <a:pPr algn="l">
              <a:lnSpc>
                <a:spcPts val="2000"/>
              </a:lnSpc>
            </a:pPr>
            <a:r>
              <a:rPr sz="14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2000"/>
              </a:lnSpc>
            </a:pPr>
            <a:r>
              <a:rPr sz="1400" b="0" i="1">
                <a:solidFill>
                  <a:srgbClr val="FFD600"/>
                </a:solidFill>
              </a:rPr>
              <a:t>The bottleneck isn't ideas — it's operations.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3749039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0C2FF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46520" y="1737360"/>
            <a:ext cx="5349240" cy="4480560"/>
          </a:xfrm>
          <a:prstGeom prst="rect">
            <a:avLst/>
          </a:prstGeom>
          <a:solidFill>
            <a:srgbClr val="08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46520" y="1737360"/>
            <a:ext cx="5349240" cy="7315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856231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E596"/>
                </a:solidFill>
              </a:rPr>
              <a:t>OUR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42316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1" i="0">
                <a:solidFill>
                  <a:srgbClr val="FFFFFF"/>
                </a:solidFill>
              </a:rPr>
              <a:t>3-stage AI pipeline:</a:t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00C2FF"/>
                </a:solidFill>
              </a:rPr>
              <a:t>① Input  — any natural-language hypothesis</a:t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00C2FF"/>
                </a:solidFill>
              </a:rPr>
              <a:t>② Literature QC  — 6-source search (Semantic Scholar,
   arXiv, PubMed, OpenAlex, protocols.io + Tavily)
   → novelty signal in seconds</a:t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00C2FF"/>
                </a:solidFill>
              </a:rPr>
              <a:t>③ Full Experiment Plan  — protocol · materials
   catalog #s · budget · timeline · validation
   safety · risks · assumptions</a:t>
            </a:r>
          </a:p>
          <a:p>
            <a:pPr algn="l">
              <a:lnSpc>
                <a:spcPts val="1800"/>
              </a:lnSpc>
            </a:pPr>
            <a:r>
              <a:rPr sz="1300" b="0" i="0">
                <a:solidFill>
                  <a:srgbClr val="CCD6E0"/>
                </a:solidFill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300" b="1" i="1">
                <a:solidFill>
                  <a:srgbClr val="00E596"/>
                </a:solidFill>
              </a:rPr>
              <a:t>Pick it up Monday. Start running Friday.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WE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09728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51560"/>
            <a:ext cx="5577840" cy="2423160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557784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179576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</a:rPr>
              <a:t>🔍  PLAN CRITIQUE — WE CHECK OUR OWN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39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After every plan is generated, an AI critic scans it for 6 weakness categories:
controls · statistics · sample size · validation · safety · feasibility
Heuristic fallback if AI is unavailable. Rated: weak / needs_work / solid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051560"/>
            <a:ext cx="5577840" cy="2423160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051560"/>
            <a:ext cx="5577840" cy="73152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179576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D600"/>
                </a:solidFill>
              </a:rPr>
              <a:t>🔁  LEARNING FEEDBACK LOOP (Stretch Goal ✔)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691639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Scientist corrects a plan section → system derives a reusable rule + embedding.
Next plan for a similar experiment automatically incorporates those corrections.
Semantic + lexical retrieval: domain, type, tags, cosine similarity.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657600"/>
            <a:ext cx="5577840" cy="2423160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657600"/>
            <a:ext cx="5577840" cy="7315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785615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</a:rPr>
              <a:t>🛡️  USER-SPECIFIC RISK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29768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Hard-blocks: gain-of-function · pathogen synthesis · unapproved human trials.
Soft-flags: animal work · GMOs · controlled substances · biohazards.
Every plan includes PPE requirements, waste handling &amp; expert-review gates.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657600"/>
            <a:ext cx="5577840" cy="2423160"/>
          </a:xfrm>
          <a:prstGeom prst="rect">
            <a:avLst/>
          </a:prstGeom>
          <a:solidFill>
            <a:srgbClr val="12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657600"/>
            <a:ext cx="5577840" cy="73152"/>
          </a:xfrm>
          <a:prstGeom prst="rect">
            <a:avLst/>
          </a:prstGeom>
          <a:solidFill>
            <a:srgbClr val="00E5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785615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596"/>
                </a:solidFill>
              </a:rPr>
              <a:t>📊  COMPOSITE CONFIDENCE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9768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CD6E0"/>
                </a:solidFill>
              </a:rPr>
              <a:t>Every plan is scored across 4 dimensions:
evidence quality · supplier completeness · validation completeness · feedback relevance.
Scientists know exactly how much to trust the output before ordering materials.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DID WE FULFIL THE BRIEF?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09728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760720" cy="347472"/>
          </a:xfrm>
          <a:prstGeom prst="rect">
            <a:avLst/>
          </a:prstGeom>
          <a:solidFill>
            <a:srgbClr val="004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960120"/>
            <a:ext cx="5577840" cy="347472"/>
          </a:xfrm>
          <a:prstGeom prst="rect">
            <a:avLst/>
          </a:prstGeom>
          <a:solidFill>
            <a:srgbClr val="003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0584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CORE REQUIREMENTS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058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96"/>
                </a:solidFill>
              </a:rPr>
              <a:t>STRETCH GOAL + BEYOND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1732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96"/>
                </a:solidFill>
              </a:rPr>
              <a:t>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4173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Natural language 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03911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96"/>
                </a:solidFill>
              </a:rPr>
              <a:t>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03911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Literature QC — novelty signal + references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66090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96"/>
                </a:solidFill>
              </a:rPr>
              <a:t>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66090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Step-by-step protocol (grounded in research)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8269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96"/>
                </a:solidFill>
              </a:rPr>
              <a:t>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28269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Reagents with catalog numbers &amp; suppliers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90448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96"/>
                </a:solidFill>
              </a:rPr>
              <a:t>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90448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Realistic cost breakdown (line items)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52628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96"/>
                </a:solidFill>
              </a:rPr>
              <a:t>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5262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Phased timeline with dependencies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14807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96"/>
                </a:solidFill>
              </a:rPr>
              <a:t>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514807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Validation design — success/failure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76986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96"/>
                </a:solidFill>
              </a:rPr>
              <a:t>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576986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Polished end-to-end UI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141732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96"/>
                </a:solidFill>
              </a:rPr>
              <a:t>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7688" y="14173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Feedback loop — corrects future plans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7688" y="16642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2FF"/>
                </a:solidFill>
              </a:rPr>
              <a:t>✔ Stretch goal fully implemented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230428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96"/>
                </a:solidFill>
              </a:rPr>
              <a:t>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47688" y="230428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Plan critique — finds own weaknesses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47688" y="255117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2FF"/>
                </a:solidFill>
              </a:rPr>
              <a:t>✔ Beyond the brief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19125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96"/>
                </a:solidFill>
              </a:rPr>
              <a:t>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7688" y="319125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Risk profile per plan + safety hard-blocks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7688" y="343814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2FF"/>
                </a:solidFill>
              </a:rPr>
              <a:t>✔ Beyond the brief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07822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96"/>
                </a:solidFill>
              </a:rPr>
              <a:t>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7688" y="407822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Composite confidence score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7688" y="43251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2FF"/>
                </a:solidFill>
              </a:rPr>
              <a:t>✔ Beyond the brief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96519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E596"/>
                </a:solidFill>
              </a:rPr>
              <a:t>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7688" y="496519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Evidence drilldown cards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47688" y="521207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2FF"/>
                </a:solidFill>
              </a:rPr>
              <a:t>✔ Beyond the brief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5852159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CD6E0"/>
                </a:solidFill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47688" y="5852159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D6E0"/>
                </a:solidFill>
              </a:rPr>
              <a:t>Upload own experimental data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47688" y="609904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C2FF"/>
                </a:solidFill>
              </a:rPr>
              <a:t>○ Architecture ready — coming soon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WHAT WE DID BETTER THAN THE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097280" cy="64008"/>
          </a:xfrm>
          <a:prstGeom prst="rect">
            <a:avLst/>
          </a:prstGeom>
          <a:solidFill>
            <a:srgbClr val="00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212080" cy="365760"/>
          </a:xfrm>
          <a:prstGeom prst="rect">
            <a:avLst/>
          </a:prstGeom>
          <a:solidFill>
            <a:srgbClr val="003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0" y="960120"/>
            <a:ext cx="6035040" cy="365760"/>
          </a:xfrm>
          <a:prstGeom prst="rect">
            <a:avLst/>
          </a:prstGeom>
          <a:solidFill>
            <a:srgbClr val="004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058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D6E0"/>
                </a:solidFill>
              </a:rPr>
              <a:t>BRIEF ASKED FOR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100584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96"/>
                </a:solidFill>
              </a:rPr>
              <a:t>WE DELIVERED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30000" cy="640080"/>
          </a:xfrm>
          <a:prstGeom prst="rect">
            <a:avLst/>
          </a:prstGeom>
          <a:solidFill>
            <a:srgbClr val="10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08760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Novelty signal + 1–3 references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508760"/>
            <a:ext cx="6126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E596"/>
                </a:solidFill>
              </a:rPr>
              <a:t>6-source search (Scholar · arXiv · PubMed · OpenAlex · protocols.io · Tavily)
Smart domain filtering · re-ranking · de-duplication · coverage diagnostics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75688"/>
            <a:ext cx="11430000" cy="640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167128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Step-by-step protocol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167128"/>
            <a:ext cx="6126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E596"/>
                </a:solidFill>
              </a:rPr>
              <a:t>Protocol + AI CRITIC that scans our own output for 6 weakness categories
(controls · statistics · sample size · validation · safety · feasibility)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734056"/>
            <a:ext cx="11430000" cy="640080"/>
          </a:xfrm>
          <a:prstGeom prst="rect">
            <a:avLst/>
          </a:prstGeom>
          <a:solidFill>
            <a:srgbClr val="10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Materials with catalog numbers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825496"/>
            <a:ext cx="6126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E596"/>
                </a:solidFill>
              </a:rPr>
              <a:t>Per-material Tavily search · regex fact extraction from supplier pages
AI price estimation tagged [approx_estimate] — never fabricates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392424"/>
            <a:ext cx="11430000" cy="640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483864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Phased timeline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483864"/>
            <a:ext cx="6126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E596"/>
                </a:solidFill>
              </a:rPr>
              <a:t>Timeline with decision gates · schedule risks per phase · dependencies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050791"/>
            <a:ext cx="11430000" cy="640080"/>
          </a:xfrm>
          <a:prstGeom prst="rect">
            <a:avLst/>
          </a:prstGeom>
          <a:solidFill>
            <a:srgbClr val="10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142231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6E0"/>
                </a:solidFill>
              </a:rPr>
              <a:t>[Stretch] Scientist feedback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142231"/>
            <a:ext cx="6126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C2FF"/>
                </a:solidFill>
              </a:rPr>
              <a:t>✔  Fully implemented: derive rule → compute embedding → semantic+lexical retrieval
   'Applied Feedback' panel shows exactly which rules were injected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709159"/>
            <a:ext cx="11430000" cy="640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800599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99AA"/>
                </a:solidFill>
              </a:rPr>
              <a:t>(Not in brief)  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4800599"/>
            <a:ext cx="6126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C2FF"/>
                </a:solidFill>
              </a:rPr>
              <a:t>User-specific risk profile: hard-blocks · soft-flags · expert-review gates per plan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367528"/>
            <a:ext cx="11430000" cy="640080"/>
          </a:xfrm>
          <a:prstGeom prst="rect">
            <a:avLst/>
          </a:prstGeom>
          <a:solidFill>
            <a:srgbClr val="1022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458968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99AA"/>
                </a:solidFill>
              </a:rPr>
              <a:t>(Not in brief)  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5458968"/>
            <a:ext cx="6126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C2FF"/>
                </a:solidFill>
              </a:rPr>
              <a:t>Composite confidence score: evidence quality · supplier completeness
   validation completeness · feedback relevance  →  trust before ordering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6025896"/>
            <a:ext cx="11430000" cy="640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117336"/>
            <a:ext cx="51206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99AA"/>
                </a:solidFill>
              </a:rPr>
              <a:t>(Not in brief)  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0" y="6117336"/>
            <a:ext cx="6126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C2FF"/>
                </a:solidFill>
              </a:rPr>
              <a:t>Upload own data [coming soon]  —  architecture (feedback store + embeddings) is ready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