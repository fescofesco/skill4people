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fescofesco/Skill4Peopl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"/>
            <a:ext cx="12188952" cy="384048"/>
          </a:xfrm>
          <a:prstGeom prst="rect">
            <a:avLst/>
          </a:prstGeom>
          <a:solidFill>
            <a:srgbClr val="05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CCD6E0"/>
                </a:solidFill>
              </a:rPr>
              <a:t>Hack-Nation 5th Global AI Hackathon  ·  HUB-LINZ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858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FFFFFF"/>
                </a:solidFill>
              </a:rPr>
              <a:t>Skills4People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783080"/>
            <a:ext cx="6336792" cy="502920"/>
          </a:xfrm>
          <a:prstGeom prst="rect">
            <a:avLst/>
          </a:prstGeom>
          <a:solidFill>
            <a:srgbClr val="004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828800"/>
            <a:ext cx="633679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C2FF"/>
                </a:solidFill>
              </a:rPr>
              <a:t>The AI Scientist  —  from one-shot tool to experiment platform that learns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2450592"/>
            <a:ext cx="48737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633472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C2FF"/>
                </a:solidFill>
              </a:rPr>
              <a:t>GF.sh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45643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CCD6E0"/>
                </a:solidFill>
              </a:rPr>
              <a:t>Samuel Hajek  ·  Georg Niess  ·  Felix Scope  ·  Johannes Wagner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4069080"/>
            <a:ext cx="5788152" cy="45720"/>
          </a:xfrm>
          <a:prstGeom prst="rect">
            <a:avLst/>
          </a:prstGeom>
          <a:solidFill>
            <a:srgbClr val="224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699BB"/>
                </a:solidFill>
              </a:rPr>
              <a:t>OpenAI GPT-4o  ·  Google Gemini  ·  Claude  ·  Supabase pgvector  ·  Tavily  ·  Next.js 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526280"/>
            <a:ext cx="11247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u="sng">
                <a:solidFill>
                  <a:srgbClr val="00C2FF"/>
                </a:solidFill>
                <a:hlinkClick r:id="rId2"/>
              </a:rPr>
              <a:t>🔗  github.com/fescofesco/Skill4People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983480"/>
            <a:ext cx="11247120" cy="1371600"/>
          </a:xfrm>
          <a:prstGeom prst="rect">
            <a:avLst/>
          </a:prstGeom>
          <a:solidFill>
            <a:srgbClr val="08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20640"/>
            <a:ext cx="10881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FFFFFF"/>
                </a:solidFill>
              </a:rPr>
              <a:t>Science moves at the speed of operations, not ideas.
Every plan saved, every correction made, every document uploaded —
the next plan is better.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THE AI SCIENTIST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00C2FF"/>
                </a:solidFill>
              </a:rPr>
              <a:t>Hypothesis to runnable experiment plan — in minutes, not weeks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1554480"/>
            <a:ext cx="39593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539496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737360"/>
            <a:ext cx="539496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6B6B"/>
                </a:solidFill>
              </a:rP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423160"/>
            <a:ext cx="51206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Turning a hypothesis into a lab-ready experiment
takes weeks of manual work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Designing protocols from scattered literature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Sourcing reagents with correct catalog numbers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Building realistic budgets + phased timelines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Assessing safety, ethics &amp; regulatory requirements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>• Applying your lab's own SOPs and prior corrections</a:t>
            </a:r>
          </a:p>
          <a:p>
            <a:pPr algn="l">
              <a:lnSpc>
                <a:spcPts val="1900"/>
              </a:lnSpc>
            </a:pPr>
            <a:r>
              <a:rPr sz="13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900"/>
              </a:lnSpc>
            </a:pPr>
            <a:r>
              <a:rPr sz="1300" b="0" i="1">
                <a:solidFill>
                  <a:srgbClr val="FFD600"/>
                </a:solidFill>
              </a:rPr>
              <a:t>The bottleneck isn't ideas — it's operations.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0C2FF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1737360"/>
            <a:ext cx="5349240" cy="4480560"/>
          </a:xfrm>
          <a:prstGeom prst="rect">
            <a:avLst/>
          </a:prstGeom>
          <a:solidFill>
            <a:srgbClr val="081E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46520" y="1737360"/>
            <a:ext cx="5349240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856231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E596"/>
                </a:solidFill>
              </a:rPr>
              <a:t>OUR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423160"/>
            <a:ext cx="51206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200" b="1" i="0">
                <a:solidFill>
                  <a:srgbClr val="FFFFFF"/>
                </a:solidFill>
              </a:rPr>
              <a:t>An iterative experiment platform: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① Input  — hypothesis + category + optional
   reference documents (PDF / TXT)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② Literature QC  — 6-source parallel search
   → novelty signal in seconds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③ Plan + Critique  — full operational plan,
   then AI audits its own weaknesses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00C2FF"/>
                </a:solidFill>
              </a:rPr>
              <a:t>④ Save → Feedback → Regenerate  — corrections
   stored by scope, applied to every future plan</a:t>
            </a:r>
          </a:p>
          <a:p>
            <a:pPr algn="l">
              <a:lnSpc>
                <a:spcPts val="1700"/>
              </a:lnSpc>
            </a:pPr>
            <a:r>
              <a:rPr sz="1200" b="0" i="0">
                <a:solidFill>
                  <a:srgbClr val="CCD6E0"/>
                </a:solidFill>
              </a:rPr>
              <a:t/>
            </a:r>
          </a:p>
          <a:p>
            <a:pPr algn="l">
              <a:lnSpc>
                <a:spcPts val="1700"/>
              </a:lnSpc>
            </a:pPr>
            <a:r>
              <a:rPr sz="1200" b="1" i="1">
                <a:solidFill>
                  <a:srgbClr val="00E596"/>
                </a:solidFill>
              </a:rPr>
              <a:t>The platform gets smarter with every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5156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557784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79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</a:rPr>
              <a:t>🔍  PLAN CRITIQUE — AI EVALUATES ITS OWN WEAKNESSES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65506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After every plan, a second AI pass scans for 6 weakness categories:
missing controls · weak statistics · insufficient sample size
validation gaps · safety oversights · feasibility issues
Rated: weak (critical) · needs_work · solid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5156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577840" cy="73152"/>
          </a:xfrm>
          <a:prstGeom prst="rect">
            <a:avLst/>
          </a:prstGeom>
          <a:solidFill>
            <a:srgbClr val="05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179576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C48A"/>
                </a:solidFill>
              </a:rPr>
              <a:t>🔁  3-BUCKET FEEDBACK PLATFORM  (Stretch Goal 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65506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Corrections scoped to: Organisation · Category · Experiment
AI auto-classifies each correction into the right bucket.
Stored as Gemini 768-dim vectors in Supabase pgvector (HNSW).
Injected as labelled blocks into every new plan. ~1,600 rules pre-seeded.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3703320"/>
            <a:ext cx="5577840" cy="73152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83133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D600"/>
                </a:solidFill>
              </a:rPr>
              <a:t>📂  DOCUMENT UPLOAD — YOUR SOPs BECOME PART OF EVERY PLAN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430682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Upload PDF, TXT, or MD at organisation-scope or experiment-scope.
Text extracted via pdf-parse (60 KB cap), threaded into plan prompt.
Org documents inject into all plans. Experiment docs inject on branch.
Your lab's protocols, not just the literature.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703320"/>
            <a:ext cx="5577840" cy="2487168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703320"/>
            <a:ext cx="5577840" cy="73152"/>
          </a:xfrm>
          <a:prstGeom prst="rect">
            <a:avLst/>
          </a:prstGeom>
          <a:solidFill>
            <a:srgbClr val="A86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831335"/>
            <a:ext cx="53035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6EFF"/>
                </a:solidFill>
              </a:rPr>
              <a:t>🏛️  EXPERIMENT LIBRARY + ORGANISATION 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06824"/>
            <a:ext cx="5303520" cy="1755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Named experiments saved and re-opened from a persistent library.
Save without re-running · Regenerate with latest feedback applied.
Category system (cell-biology, diagnostics, …) scopes feedback rules.
Multi-tenant org layer: settings drawer, per-org categories &amp; documents.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WHAT WE DID BETTER THAN THE REQUIREMENTS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5212080" cy="365760"/>
          </a:xfrm>
          <a:prstGeom prst="rect">
            <a:avLst/>
          </a:prstGeom>
          <a:solidFill>
            <a:srgbClr val="003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60720" y="960120"/>
            <a:ext cx="6035040" cy="365760"/>
          </a:xfrm>
          <a:prstGeom prst="rect">
            <a:avLst/>
          </a:prstGeom>
          <a:solidFill>
            <a:srgbClr val="00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05840"/>
            <a:ext cx="5029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CD6E0"/>
                </a:solidFill>
              </a:rPr>
              <a:t>BRIEF ASKED FOR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005840"/>
            <a:ext cx="57607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E596"/>
                </a:solidFill>
              </a:rPr>
              <a:t>WE DELIVERED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417320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51790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Novelty signal + 1–3 references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51790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6-source parallel search · domain filtering · Jaccard re-ranking · de-duplication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16252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11683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Step-by-step protocol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211683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Protocol + AI CRITIC: 6 weakness categories audited after every generation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615184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271576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Materials with catalog numbers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271576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Tavily supplier search + regex extraction of prices, pack sizes, catalog numbers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214116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1470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Phased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331470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E596"/>
                </a:solidFill>
              </a:rPr>
              <a:t>Timeline with decision gates · schedule risks · dependencies per phase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813048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913632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[Stretch] Scientist feedback loop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3913632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C48A"/>
                </a:solidFill>
              </a:rPr>
              <a:t>✔  3-bucket RAG: org / category / experiment scope · Gemini embeddings · Supabase pgvector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411980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512564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512564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Document upload: PDF/TXT/MD · extracted &amp; injected · org-scope + experiment-scope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5010912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111496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511149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Persistent experiment library · named plans · Save + Regenerate workflow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09844"/>
            <a:ext cx="11430000" cy="57607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710428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60720" y="5710428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Category system + multi-tenant org layer · settings drawer · per-org rules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6208776"/>
            <a:ext cx="11430000" cy="576072"/>
          </a:xfrm>
          <a:prstGeom prst="rect">
            <a:avLst/>
          </a:prstGeom>
          <a:solidFill>
            <a:srgbClr val="1022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309360"/>
            <a:ext cx="5120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78899"/>
                </a:solidFill>
              </a:rPr>
              <a:t>(Not in brief)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6309360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C2FF"/>
                </a:solidFill>
              </a:rPr>
              <a:t>Multi-model: OpenAI GPT-4o · Google Gemini · Claude — redundancy &amp; best-fit routing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FEEDBACK MODEL &amp; AI VALIDATION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749808"/>
            <a:ext cx="1097280" cy="64008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6400800" cy="4480560"/>
          </a:xfrm>
          <a:prstGeom prst="rect">
            <a:avLst/>
          </a:prstGeom>
          <a:solidFill>
            <a:srgbClr val="12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6400800" cy="73152"/>
          </a:xfrm>
          <a:prstGeom prst="rect">
            <a:avLst/>
          </a:prstGeom>
          <a:solidFill>
            <a:srgbClr val="05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6126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5C48A"/>
                </a:solidFill>
              </a:rPr>
              <a:t>HOW THE FEEDBACK MODEL WORKS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72768"/>
            <a:ext cx="6126480" cy="8686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572768"/>
            <a:ext cx="164592" cy="868680"/>
          </a:xfrm>
          <a:prstGeom prst="rect">
            <a:avLst/>
          </a:prstGeom>
          <a:solidFill>
            <a:srgbClr val="05C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6459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5C48A"/>
                </a:solidFill>
              </a:rPr>
              <a:t>ORGANISATION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938528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Applies to all plans in the org
e.g. 'Always verify matrix effects for biosensors'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60320"/>
            <a:ext cx="6126480" cy="8686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2560320"/>
            <a:ext cx="164592" cy="868680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6334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C2FF"/>
                </a:solidFill>
              </a:rPr>
              <a:t>CATEGORY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926079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Applies to one experiment type
e.g. 'For Cell Biology: include mycoplasma testing'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547872"/>
            <a:ext cx="6126480" cy="868680"/>
          </a:xfrm>
          <a:prstGeom prst="rect">
            <a:avLst/>
          </a:prstGeom>
          <a:solidFill>
            <a:srgbClr val="0A1E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547872"/>
            <a:ext cx="164592" cy="868680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2102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D600"/>
                </a:solidFill>
              </a:rPr>
              <a:t>EXPERIMENT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13632"/>
            <a:ext cx="5577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D6E0"/>
                </a:solidFill>
              </a:rPr>
              <a:t>Applies when branching from a specific plan
e.g. 'n=4 sufficient for this HeLa line'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553712"/>
            <a:ext cx="6400800" cy="438912"/>
          </a:xfrm>
          <a:prstGeom prst="rect">
            <a:avLst/>
          </a:prstGeom>
          <a:solidFill>
            <a:srgbClr val="06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599432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BBDD"/>
                </a:solidFill>
              </a:rPr>
              <a:t>Gemini 768-dim embeddings · Supabase pgvector HNSW · cosine similarity · match_experiments() RPC · ~1,600 pre-seeded rules · AI auto-classifies bucket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960120"/>
            <a:ext cx="4846320" cy="4480560"/>
          </a:xfrm>
          <a:prstGeom prst="rect">
            <a:avLst/>
          </a:prstGeom>
          <a:solidFill>
            <a:srgbClr val="0F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949440" y="960120"/>
            <a:ext cx="4846320" cy="7315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86600" y="1078992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6B6B"/>
                </a:solidFill>
              </a:rPr>
              <a:t>HOW WE VALIDATE THE AI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86600" y="1517904"/>
            <a:ext cx="4526280" cy="841248"/>
          </a:xfrm>
          <a:prstGeom prst="rect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086600" y="1517904"/>
            <a:ext cx="4526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23760" y="160934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</a:rPr>
              <a:t>Plan Critique (self-audit)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188366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Second AI pass after every generation.
6 categories: controls · statistics · sample size
validation · safety · feasibility
Rated: weak · needs_work · solid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86600" y="2478024"/>
            <a:ext cx="4526280" cy="841248"/>
          </a:xfrm>
          <a:prstGeom prst="rect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086600" y="2478024"/>
            <a:ext cx="4526280" cy="54864"/>
          </a:xfrm>
          <a:prstGeom prst="rect">
            <a:avLst/>
          </a:prstGeom>
          <a:solidFill>
            <a:srgbClr val="FFD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60" y="256946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D600"/>
                </a:solidFill>
              </a:rPr>
              <a:t>Multi-model redundancy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284378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OpenAI GPT-4o · Google Gemini · Claude
Heuristic fallback at every AI call
System is fully functional with no API 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086600" y="3438144"/>
            <a:ext cx="4526280" cy="841248"/>
          </a:xfrm>
          <a:prstGeom prst="rect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086600" y="3438144"/>
            <a:ext cx="4526280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23760" y="352958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C2FF"/>
                </a:solidFill>
              </a:rPr>
              <a:t>Composite confidence score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380390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Every plan scored: evidence quality
supplier completeness · validation design
feedback relevance — visible before ordering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86600" y="4398264"/>
            <a:ext cx="4526280" cy="841248"/>
          </a:xfrm>
          <a:prstGeom prst="rect">
            <a:avLst/>
          </a:prstGeom>
          <a:solidFill>
            <a:srgbClr val="0A1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086600" y="4398264"/>
            <a:ext cx="4526280" cy="54864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223760" y="4489704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E596"/>
                </a:solidFill>
              </a:rPr>
              <a:t>Literature grounding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4764024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6E0"/>
                </a:solidFill>
              </a:rPr>
              <a:t>Plans grounded in 6-source literature QC
Nov­elty classified with confidence score
No hallucinated catalog numbers — Tavily-verified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5577840"/>
            <a:ext cx="12188952" cy="1188720"/>
          </a:xfrm>
          <a:prstGeom prst="rect">
            <a:avLst/>
          </a:prstGeom>
          <a:solidFill>
            <a:srgbClr val="0512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0" y="5577840"/>
            <a:ext cx="12188952" cy="54864"/>
          </a:xfrm>
          <a:prstGeom prst="rect">
            <a:avLst/>
          </a:prstGeom>
          <a:solidFill>
            <a:srgbClr val="00C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5650992"/>
            <a:ext cx="11247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C2FF"/>
                </a:solidFill>
              </a:rPr>
              <a:t>CONTACT US FOR MORE QUESTIONS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Samuel Hajek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2544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samuel.hajek@gmail.com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55848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Johannes Wagner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62544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johannes.wagner@alumni.tugraz.at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0216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Felix Scope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0216" y="62544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scope@tugraz.at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44584" y="5998464"/>
            <a:ext cx="2834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Georg Niess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244584" y="6254496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00C2FF"/>
                </a:solidFill>
              </a:rPr>
              <a:t>georg.niess@tugraz.at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